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D04E3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Sudden Change</c:v>
                </c:pt>
                <c:pt idx="1">
                  <c:v>High Heart</c:v>
                </c:pt>
                <c:pt idx="2">
                  <c:v>High Breath</c:v>
                </c:pt>
                <c:pt idx="3">
                  <c:v>High Heart + High Breath</c:v>
                </c:pt>
                <c:pt idx="4">
                  <c:v>Drop Event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2554</c:v>
                </c:pt>
                <c:pt idx="1">
                  <c:v>434</c:v>
                </c:pt>
                <c:pt idx="2">
                  <c:v>127</c:v>
                </c:pt>
                <c:pt idx="3">
                  <c:v>70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CE-45C4-9726-304601E4C8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2E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E2E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K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20C70-CFCF-4862-835B-32844284BB8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A7D0A-2B7B-4D4D-AAC6-D506C824A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61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오프닝: 문제 정의, 사용한 데이터 구조, 오늘 보여줄 분석 흐름을 짧게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프로젝트의 문제 정의와 오늘 발표의 흐름을 설명합니다. 의료 데이터 특성상 해석 가능성을 우선했다는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여기서는 원시 데이터가 long format이라는 점과, why pivot이 필요한지를 설명합니다. 실제 분석에서는 timestamp 단위로 Heart, Breath, Status, Drop를 한 행에 모읍니다.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전처리 단계는 발표 점수에서 중요한 부분입니다. 원시 로그를 그대로 쓰지 않고, 품질 이슈를 먼저 제거했다는 점을 분명히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포인트: 교수 피드백에 따라 threshold를 명시했고, 이상탐지는 해석 가능한 rule-based 접근으로 구현했습니다.
[Sources]
- Subbe CP, Kruger M, Rutherford P, Gemmel L. Validation of a modified Early Warning Score in medical admissions. QJM. 2001. https://academic.oup.com/qjmed/article/94/10/521/1569607
- Goldberger AL, et al. PhysioBank, PhysioToolkit, and PhysioNet: Components of a new research resource for complex physiologic signals. Circulation. 2000. https://www.ahajournals.org/doi/10.1161/01.CIR.101.23.e215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슬라이드에서는 시간축을 따라 생체신호가 어떻게 변하는지, 그리고 낙상 이벤트 전후에서 급변 구간이 보인다는 점을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분포 히스토그램과 산점도를 함께 보여주면서 “정상 범위 안의 분포”와 “두 신호의 동행성”을 해석합니다.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슬라이드에서는 Streamlit 화면에서 무엇을 보여줄지 순서를 짚고, EC2에서도 동일하게 동작한다는 점을 짧게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마무리에서는 전처리, 상관관계, risk 기준, 시연까지 이어졌다는 점을 정리하고 질문을 받습니다.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B5002-298B-6F67-0145-13E2F22B9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D70699-B2FA-2661-8580-D55A139CB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32D8DF-DDA1-7793-BB9F-2D960867D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CAAF-3C59-43D5-BAF3-EE03276181A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19F55-EE55-6A38-A017-5422262B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67217-C350-7278-54B8-41D3EA1D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4C4E-7F42-4004-B259-1FCC7B777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316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21AF4-1509-18A9-F94D-E5CB31E0C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4B2289-87CD-F638-CBDA-6B30DA4D4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ADB1D0-9FD0-E810-98DC-5153F1CE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CAAF-3C59-43D5-BAF3-EE03276181A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66C7BD-3D7E-EDB5-BB98-951EDBB8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5D3A8D-5AA9-CA5B-E269-49F51E83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4C4E-7F42-4004-B259-1FCC7B777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05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55407-60B1-E9D1-8E91-FC7BFDB3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5DE0A5-EAE6-2995-689D-76196ACC2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B721B2-EE33-A5F9-46E6-C1BBB521E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CAAF-3C59-43D5-BAF3-EE03276181A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AD0B1-BA74-F6AC-C794-6965E5259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FC5F0C-54F9-0408-C63D-4526209D0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4C4E-7F42-4004-B259-1FCC7B777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43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79200-5E3A-4C2B-FF2B-D9B070B63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34338B-7A5B-E093-EC5D-965CF2AB9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11026D-AFFE-80E7-800F-F691143CD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2DBAFB-D567-D19A-F46B-298E5C00C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CAAF-3C59-43D5-BAF3-EE03276181A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4B7C60-A9E4-38B7-36E5-6B9F0C3A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47C589-A7B7-E916-12DC-82058A56E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4C4E-7F42-4004-B259-1FCC7B777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920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5A059-3B8F-925D-4A58-FD03F10B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3DD4CA-B84A-BBC8-57E0-470B44B50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02E3E6-3A8C-FD76-76E5-01BE38AC1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704F81-EEED-49E9-A553-F8239F752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C481BC-AFA7-C226-31D7-C9B003EE6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182478-837B-AFB4-35A5-18E83569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CAAF-3C59-43D5-BAF3-EE03276181A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855A89-35BE-926B-1088-3424633C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7CE9E5-8F75-7361-6421-A8267139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4C4E-7F42-4004-B259-1FCC7B777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305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9DD622-85D5-EE82-E82B-141864B7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A4DDD9-4F92-92CB-C896-8CD8D337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CAAF-3C59-43D5-BAF3-EE03276181A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BC6B65-B97A-ED16-0609-6C3E88FB8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800CAC-41E1-3390-7AB2-B1A54260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4C4E-7F42-4004-B259-1FCC7B777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001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CF2D5B-EC58-CFD0-E206-4BE87F21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CAAF-3C59-43D5-BAF3-EE03276181A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F3EC26-0BB6-9155-0E52-B295316E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52E843-E497-3900-2E56-C0E874286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4C4E-7F42-4004-B259-1FCC7B777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36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F670E-B09F-2E46-25E3-04AD89CC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0A7B10-E167-2B1C-9D19-76F286CAC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6B85B0-58ED-26AB-E753-4AAD2AB66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BADEC2-834C-5F10-18E5-8D9F2B56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CAAF-3C59-43D5-BAF3-EE03276181A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CC7048-69A8-05C7-5442-BF73336E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31FB5F-7A78-F8A8-BC78-857E3B1B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4C4E-7F42-4004-B259-1FCC7B777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137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8A585-7B62-0E22-9F95-A6175F52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A0C09A-D5A5-885C-55D2-14A4E1FA9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02101A-A6DA-02CF-673F-8CC8F5758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C021A6-AC58-202C-2F1F-BAEACEC6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CAAF-3C59-43D5-BAF3-EE03276181A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7C5276-161C-BB5E-D5BC-D5197BE8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6931BF-07C8-05D7-F113-0D65D6F4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4C4E-7F42-4004-B259-1FCC7B777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978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57322-9101-EC58-538C-BEFFB05D9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4ACE11-B975-5842-E1A2-DDD90D73B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487B42-EB5A-57C2-F1D7-F9DE91D2E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CAAF-3C59-43D5-BAF3-EE03276181A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9717-996B-2911-B7AA-9B87A6CFF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48A954-8726-B63E-76AF-13BF28FB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4C4E-7F42-4004-B259-1FCC7B777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34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6F8B789-1E21-5B2C-E419-723CD0362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9DCFEF-11A3-0DB0-AA7A-B61E73A11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4C0DF-8C40-F985-22A8-082A449A1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2CAAF-3C59-43D5-BAF3-EE03276181A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E405F2-EAEE-1509-33EA-52D22ADC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D33393-162E-ED15-9E49-3A310622B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4C4E-7F42-4004-B259-1FCC7B777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474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283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3656D0-48F1-65CA-F2BD-969FB6D26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67402E-2D98-2BAA-BF4D-BAFD0FAA4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A723D5-6D07-ED8D-B446-C22BAB6A3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2CAAF-3C59-43D5-BAF3-EE03276181A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B28131-8D55-3AE2-BC4E-83790F776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CF1E6F-AC90-F91A-E295-2F45EE2CA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C4C4E-7F42-4004-B259-1FCC7B777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8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academic.oup.com/qjmed/article/94/10/521/1558977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12064" y="3200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데이터마이닝 중간발표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30352" y="960120"/>
            <a:ext cx="5422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레이더 기반 환자 생체신호 분석과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상태 탐지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6009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사내 DB 구조를 반영한 생체신호 로그를 전처리하고,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threshold 기반 이상탐지와 Streamlit 시각화까지 연결했습니다.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3840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3840480"/>
            <a:ext cx="1463040" cy="7315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94944" y="39684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rows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44" y="415137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80,600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2176272" y="3840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176272" y="3840480"/>
            <a:ext cx="1463040" cy="73152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304288" y="39684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rows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04288" y="415137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17,960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3785616" y="3840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785616" y="3840480"/>
            <a:ext cx="1463040" cy="73152"/>
          </a:xfrm>
          <a:prstGeom prst="rect">
            <a:avLst/>
          </a:prstGeom>
          <a:solidFill>
            <a:srgbClr val="D04E3A"/>
          </a:solidFill>
          <a:ln w="12700">
            <a:solidFill>
              <a:srgbClr val="D04E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913632" y="39684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 rows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13632" y="415137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3,193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3913632" y="4553712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17.8%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943600" y="868680"/>
            <a:ext cx="57150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4768" y="2002921"/>
            <a:ext cx="5321808" cy="240410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309360" y="54406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72-hour timeline preview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63640" y="566928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심박·호흡 시계열과 Drop 이벤트를 한 눈에 확인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11612880" y="6492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이 프로젝트를 했는가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의료 현장에 바로 연결되는 해석 가능한 분석 파이프라인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30352" y="1325880"/>
            <a:ext cx="3886200" cy="448056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질문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3666744" cy="17415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64592" indent="-164592">
              <a:buSzPct val="100000"/>
              <a:buChar char="•"/>
            </a:pPr>
            <a:r>
              <a:rPr lang="en-US" sz="162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부재 상태가 섞인 원시 로그에서 유효 생체신호만 어떻게 추출할 </a:t>
            </a:r>
            <a:r>
              <a:rPr lang="en-US" sz="1620" dirty="0" err="1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것인가</a:t>
            </a:r>
            <a:r>
              <a:rPr lang="en-US" sz="162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</a:t>
            </a:r>
          </a:p>
          <a:p>
            <a:pPr>
              <a:buSzPct val="100000"/>
            </a:pPr>
            <a:endParaRPr lang="en-US" sz="1620" dirty="0"/>
          </a:p>
          <a:p>
            <a:pPr marL="164592" indent="-164592">
              <a:buSzPct val="100000"/>
              <a:buChar char="•"/>
            </a:pPr>
            <a:r>
              <a:rPr lang="en-US" sz="162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Heart와 Breath는 시간 흐름에 따라 어떤 패턴을 </a:t>
            </a:r>
            <a:r>
              <a:rPr lang="en-US" sz="1620" dirty="0" err="1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보이는가</a:t>
            </a:r>
            <a:r>
              <a:rPr lang="en-US" sz="162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</a:t>
            </a:r>
          </a:p>
          <a:p>
            <a:pPr>
              <a:buSzPct val="100000"/>
            </a:pPr>
            <a:endParaRPr lang="en-US" sz="1620" dirty="0"/>
          </a:p>
          <a:p>
            <a:pPr marL="164592" indent="-164592">
              <a:buSzPct val="100000"/>
              <a:buChar char="•"/>
            </a:pPr>
            <a:r>
              <a:rPr lang="en-US" sz="162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간단한 threshold만으로도 위험 상태를 설명 가능하게 탐지할 수 있는가?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6949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919472" y="1645920"/>
            <a:ext cx="1472184" cy="1280160"/>
          </a:xfrm>
          <a:prstGeom prst="roundRect">
            <a:avLst>
              <a:gd name="adj" fmla="val 5714"/>
            </a:avLst>
          </a:prstGeom>
          <a:solidFill>
            <a:srgbClr val="EAF2FA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0" y="1810512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74336" y="2048256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Radar / DB log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61347" y="2587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timestamp </a:t>
            </a:r>
          </a:p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940" dirty="0" err="1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device_id</a:t>
            </a: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category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419088" y="2167128"/>
            <a:ext cx="146304" cy="237744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592824" y="1645920"/>
            <a:ext cx="1472184" cy="1280160"/>
          </a:xfrm>
          <a:prstGeom prst="roundRect">
            <a:avLst>
              <a:gd name="adj" fmla="val 5714"/>
            </a:avLst>
          </a:prstGeom>
          <a:solidFill>
            <a:srgbClr val="E8F7F3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02552" y="1810512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02552" y="2048256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Preprocessing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702552" y="2587568"/>
            <a:ext cx="1252728" cy="21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Pivot</a:t>
            </a:r>
          </a:p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missing removal </a:t>
            </a:r>
          </a:p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status filter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8092440" y="2167128"/>
            <a:ext cx="146304" cy="237744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266176" y="1645920"/>
            <a:ext cx="1472184" cy="1280160"/>
          </a:xfrm>
          <a:prstGeom prst="roundRect">
            <a:avLst>
              <a:gd name="adj" fmla="val 5714"/>
            </a:avLst>
          </a:prstGeom>
          <a:solidFill>
            <a:srgbClr val="FFF2E9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375904" y="1810512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75904" y="2048256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 + Rules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375904" y="260604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Distribution</a:t>
            </a:r>
          </a:p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correlation </a:t>
            </a:r>
          </a:p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thresholds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9765792" y="2167128"/>
            <a:ext cx="146304" cy="237744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939528" y="1645920"/>
            <a:ext cx="1472184" cy="1280160"/>
          </a:xfrm>
          <a:prstGeom prst="roundRect">
            <a:avLst>
              <a:gd name="adj" fmla="val 5714"/>
            </a:avLst>
          </a:prstGeom>
          <a:solidFill>
            <a:srgbClr val="EEF2F6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049256" y="1810512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49256" y="2048256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Dashboard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049256" y="260604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 err="1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Streamlit</a:t>
            </a:r>
            <a:endParaRPr lang="en-US" sz="940" dirty="0">
              <a:solidFill>
                <a:srgbClr val="6B7C93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EC2 optional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4709160" y="352044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937760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발표의 산출물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937760" y="3986784"/>
            <a:ext cx="2697480" cy="21380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7320" indent="-147320">
              <a:buSzPct val="100000"/>
              <a:buChar char="•"/>
            </a:pPr>
            <a:r>
              <a:rPr lang="en-US" sz="14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전처리 전후 비교</a:t>
            </a:r>
            <a:endParaRPr lang="en-US" sz="1450" dirty="0"/>
          </a:p>
          <a:p>
            <a:pPr marL="147320" indent="-147320">
              <a:buSzPct val="100000"/>
              <a:buChar char="•"/>
            </a:pPr>
            <a:r>
              <a:rPr lang="en-US" sz="14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 시각화 7종</a:t>
            </a:r>
            <a:endParaRPr lang="en-US" sz="1450" dirty="0"/>
          </a:p>
          <a:p>
            <a:pPr marL="147320" indent="-147320">
              <a:buSzPct val="100000"/>
              <a:buChar char="•"/>
            </a:pPr>
            <a:r>
              <a:rPr lang="en-US" sz="14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기준 정의와 이상탐지</a:t>
            </a:r>
            <a:endParaRPr lang="en-US" sz="1450" dirty="0"/>
          </a:p>
          <a:p>
            <a:pPr marL="147320" indent="-147320">
              <a:buSzPct val="100000"/>
              <a:buChar char="•"/>
            </a:pPr>
            <a:r>
              <a:rPr lang="en-US" sz="14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Streamlit 시연 흐름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8229600" y="35204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458200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D04E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피드백</a:t>
            </a:r>
            <a:r>
              <a:rPr lang="en-US" sz="1500" b="1" dirty="0">
                <a:solidFill>
                  <a:srgbClr val="D04E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대응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458200" y="3986784"/>
            <a:ext cx="2743200" cy="21380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7320" indent="-147320">
              <a:buSzPct val="100000"/>
              <a:buChar char="•"/>
            </a:pPr>
            <a:r>
              <a:rPr lang="en-US" sz="14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Threshold 명시</a:t>
            </a:r>
            <a:endParaRPr lang="en-US" sz="1450" dirty="0"/>
          </a:p>
          <a:p>
            <a:pPr marL="147320" indent="-147320">
              <a:buSzPct val="100000"/>
              <a:buChar char="•"/>
            </a:pPr>
            <a:r>
              <a:rPr lang="en-US" sz="14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Rule-based 선택 근거 제시</a:t>
            </a:r>
            <a:endParaRPr lang="en-US" sz="1450" dirty="0"/>
          </a:p>
          <a:p>
            <a:pPr marL="147320" indent="-147320">
              <a:buSzPct val="100000"/>
              <a:buChar char="•"/>
            </a:pPr>
            <a:r>
              <a:rPr lang="en-US" sz="14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device_id 익명화</a:t>
            </a:r>
            <a:endParaRPr lang="en-US" sz="1450" dirty="0"/>
          </a:p>
          <a:p>
            <a:pPr marL="147320" indent="-147320">
              <a:buSzPct val="100000"/>
              <a:buChar char="•"/>
            </a:pPr>
            <a:r>
              <a:rPr lang="en-US" sz="14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EC2 배포 가능성 확인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11612880" y="6492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구조와 수집 결과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Long format 로그를 분석 가능한 wide format으로 변환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129844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1828800" cy="7315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94944" y="14264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long rows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" y="16093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80,600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2578608" y="129844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578608" y="1298448"/>
            <a:ext cx="18288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06624" y="14264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Timestamps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06624" y="16093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20,160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590288" y="129844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90288" y="1298448"/>
            <a:ext cx="1828800" cy="73152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18304" y="14264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analysis rows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18304" y="16093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17,960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6601968" y="1298448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01968" y="1298448"/>
            <a:ext cx="1645920" cy="73152"/>
          </a:xfrm>
          <a:prstGeom prst="rect">
            <a:avLst/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29984" y="142646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Present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9984" y="16093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18,240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8430768" y="1298448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430768" y="1298448"/>
            <a:ext cx="1645920" cy="73152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558784" y="142646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Absent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58784" y="16093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1,920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8558784" y="196596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9.5%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66928" y="242316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04672" y="2670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data_category mapping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786384" y="2971800"/>
          <a:ext cx="2743200" cy="164592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Code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Name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Meaning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14211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Status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0=absent, 1=present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14215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Drop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Fall event flag (0/1)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14221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Breath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Respiratory rate (rpm)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14223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Heart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Heart rate (bpm)</a:t>
                      </a:r>
                      <a:endParaRPr lang="en-US" sz="10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4023360" y="2423160"/>
            <a:ext cx="47548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4261104" y="26700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sample (first 6 rows)</a:t>
            </a:r>
            <a:endParaRPr lang="en-US" sz="15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/>
        </p:nvGraphicFramePr>
        <p:xfrm>
          <a:off x="4242816" y="2944368"/>
          <a:ext cx="3246120" cy="198424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timestamp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device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category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avg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1740787200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661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14211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1.0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1740787200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661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14215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0.0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1740787200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661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14221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12.5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1740787200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661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14223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61.5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1740787260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661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14211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1.0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1740787260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661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14215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0.0</a:t>
                      </a:r>
                      <a:endParaRPr lang="en-US" sz="102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9006840" y="242316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/>
          <p:nvPr/>
        </p:nvSpPr>
        <p:spPr>
          <a:xfrm>
            <a:off x="9235440" y="2670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Collection note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9235440" y="2944368"/>
            <a:ext cx="2011680" cy="20549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7160" indent="-13716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timestamp + device_id + data_category로 저장</a:t>
            </a:r>
            <a:endParaRPr lang="en-US" sz="1350" dirty="0"/>
          </a:p>
          <a:p>
            <a:pPr marL="137160" indent="-13716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카테고리별 행 분리(Long format)</a:t>
            </a:r>
            <a:endParaRPr lang="en-US" sz="1350" dirty="0"/>
          </a:p>
          <a:p>
            <a:pPr marL="137160" indent="-13716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후속 분석을 위해 pivot 필요</a:t>
            </a:r>
            <a:endParaRPr lang="en-US" sz="1350" dirty="0"/>
          </a:p>
          <a:p>
            <a:pPr marL="137160" indent="-13716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발표용 파이프라인은 DB 구조와 동일한 CSV 입력 사용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11612880" y="6492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Preprocessing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전처리: 유효 데이터만 남기기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중복·결측·부재·이상치를 제거한 뒤 분석용 데이터 17,960행 확보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132588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793" y="1671094"/>
            <a:ext cx="5392990" cy="2930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828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Preprocessing Funnel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37960" y="132588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25283" y="1331285"/>
            <a:ext cx="2381866" cy="19148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08592" y="1572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Quality issues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9308592" y="1828800"/>
            <a:ext cx="2304288" cy="1573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7160" indent="-13716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duplicates 240 rows</a:t>
            </a:r>
            <a:endParaRPr lang="en-US" sz="1350" dirty="0"/>
          </a:p>
          <a:p>
            <a:pPr marL="137160" indent="-13716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missing Heart 81 / Breath 79</a:t>
            </a:r>
            <a:endParaRPr lang="en-US" sz="1350" dirty="0"/>
          </a:p>
          <a:p>
            <a:pPr marL="137160" indent="-13716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outliers Heart 30 / Breath 25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537960" y="34747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6766560" y="37124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Filtering rules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766560" y="3950208"/>
            <a:ext cx="4389120" cy="1641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8336" indent="-148336">
              <a:buSzPct val="100000"/>
              <a:buChar char="•"/>
            </a:pPr>
            <a:r>
              <a:rPr lang="en-US" sz="146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Status == 1 인 재실 데이터만 유지</a:t>
            </a:r>
            <a:endParaRPr lang="en-US" sz="1460" dirty="0"/>
          </a:p>
          <a:p>
            <a:pPr marL="148336" indent="-148336">
              <a:buSzPct val="100000"/>
              <a:buChar char="•"/>
            </a:pPr>
            <a:r>
              <a:rPr lang="en-US" sz="146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Heart: 45~130 bpm, Breath: 8~30 rpm 범위 필터</a:t>
            </a:r>
            <a:endParaRPr lang="en-US" sz="1460" dirty="0"/>
          </a:p>
          <a:p>
            <a:pPr marL="148336" indent="-148336">
              <a:buSzPct val="100000"/>
              <a:buChar char="•"/>
            </a:pPr>
            <a:r>
              <a:rPr lang="en-US" sz="146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rolling mean / delta / hour / date 파생변수 생성</a:t>
            </a:r>
            <a:endParaRPr lang="en-US" sz="1460" dirty="0"/>
          </a:p>
        </p:txBody>
      </p:sp>
      <p:sp>
        <p:nvSpPr>
          <p:cNvPr id="18" name="Text 13"/>
          <p:cNvSpPr/>
          <p:nvPr/>
        </p:nvSpPr>
        <p:spPr>
          <a:xfrm>
            <a:off x="11612880" y="6492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Threshold &amp; Detection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상태 정의와 이상탐지 기준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교수 피드백 대응: threshold 명시 · 선택 근거 · 익명화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7" y="1399032"/>
            <a:ext cx="4411653" cy="5349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04672" y="16002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04E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 threshold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1938528"/>
            <a:ext cx="1325880" cy="420624"/>
          </a:xfrm>
          <a:prstGeom prst="roundRect">
            <a:avLst>
              <a:gd name="adj" fmla="val 13043"/>
            </a:avLst>
          </a:prstGeom>
          <a:solidFill>
            <a:srgbClr val="FCEBE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96112" y="20391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Drop =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59152" y="20482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낙상 이벤트 발생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633472"/>
            <a:ext cx="1325880" cy="420624"/>
          </a:xfrm>
          <a:prstGeom prst="roundRect">
            <a:avLst>
              <a:gd name="adj" fmla="val 13043"/>
            </a:avLst>
          </a:prstGeom>
          <a:solidFill>
            <a:srgbClr val="FFF2E9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96112" y="273405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Heart &gt; 100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59152" y="27432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고심박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328416"/>
            <a:ext cx="1325880" cy="420624"/>
          </a:xfrm>
          <a:prstGeom prst="roundRect">
            <a:avLst>
              <a:gd name="adj" fmla="val 13043"/>
            </a:avLst>
          </a:prstGeom>
          <a:solidFill>
            <a:srgbClr val="FFF2E9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96112" y="342900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Breath &gt; 25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59152" y="343814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고호흡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023360"/>
            <a:ext cx="1325880" cy="420624"/>
          </a:xfrm>
          <a:prstGeom prst="roundRect">
            <a:avLst>
              <a:gd name="adj" fmla="val 13043"/>
            </a:avLst>
          </a:prstGeom>
          <a:solidFill>
            <a:srgbClr val="EAF2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96112" y="412394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|ΔHeart| ≥ 15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59152" y="41330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심박 급변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718304"/>
            <a:ext cx="1325880" cy="420624"/>
          </a:xfrm>
          <a:prstGeom prst="roundRect">
            <a:avLst>
              <a:gd name="adj" fmla="val 13043"/>
            </a:avLst>
          </a:prstGeom>
          <a:solidFill>
            <a:srgbClr val="EAF2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96112" y="481888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|ΔBreath| ≥ 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59152" y="48280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호흡 급변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2038" y="5278767"/>
            <a:ext cx="42108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rule-based 선</a:t>
            </a:r>
            <a:r>
              <a:rPr lang="en-US" dirty="0"/>
              <a:t> </a:t>
            </a:r>
            <a:r>
              <a:rPr dirty="0"/>
              <a:t>택</a:t>
            </a:r>
            <a:r>
              <a:rPr lang="ko-KR" altLang="en-US" dirty="0"/>
              <a:t>기준</a:t>
            </a:r>
            <a:r>
              <a:rPr lang="en-US" altLang="ko-KR" dirty="0"/>
              <a:t>, </a:t>
            </a:r>
            <a:r>
              <a:rPr lang="en-US" dirty="0"/>
              <a:t>research basis</a:t>
            </a:r>
            <a:endParaRPr dirty="0"/>
          </a:p>
        </p:txBody>
      </p:sp>
      <p:sp>
        <p:nvSpPr>
          <p:cNvPr id="25" name="Text 23"/>
          <p:cNvSpPr/>
          <p:nvPr/>
        </p:nvSpPr>
        <p:spPr>
          <a:xfrm>
            <a:off x="635553" y="5854839"/>
            <a:ext cx="493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19" dirty="0" err="1">
                <a:solidFill>
                  <a:srgbClr val="6B7C93"/>
                </a:solidFill>
              </a:rPr>
              <a:t>의료</a:t>
            </a:r>
            <a:r>
              <a:rPr sz="1019" dirty="0">
                <a:solidFill>
                  <a:srgbClr val="6B7C93"/>
                </a:solidFill>
              </a:rPr>
              <a:t> </a:t>
            </a:r>
            <a:r>
              <a:rPr sz="1019" dirty="0" err="1">
                <a:solidFill>
                  <a:srgbClr val="6B7C93"/>
                </a:solidFill>
              </a:rPr>
              <a:t>데이터는</a:t>
            </a:r>
            <a:r>
              <a:rPr sz="1019" dirty="0">
                <a:solidFill>
                  <a:srgbClr val="6B7C93"/>
                </a:solidFill>
              </a:rPr>
              <a:t> </a:t>
            </a:r>
            <a:r>
              <a:rPr sz="1019" dirty="0" err="1">
                <a:solidFill>
                  <a:srgbClr val="6B7C93"/>
                </a:solidFill>
              </a:rPr>
              <a:t>해석</a:t>
            </a:r>
            <a:r>
              <a:rPr sz="1019" dirty="0">
                <a:solidFill>
                  <a:srgbClr val="6B7C93"/>
                </a:solidFill>
              </a:rPr>
              <a:t> </a:t>
            </a:r>
            <a:r>
              <a:rPr sz="1019" dirty="0" err="1">
                <a:solidFill>
                  <a:srgbClr val="6B7C93"/>
                </a:solidFill>
              </a:rPr>
              <a:t>가능성이</a:t>
            </a:r>
            <a:r>
              <a:rPr sz="1019" dirty="0">
                <a:solidFill>
                  <a:srgbClr val="6B7C93"/>
                </a:solidFill>
              </a:rPr>
              <a:t> </a:t>
            </a:r>
            <a:r>
              <a:rPr sz="1019" dirty="0" err="1">
                <a:solidFill>
                  <a:srgbClr val="6B7C93"/>
                </a:solidFill>
              </a:rPr>
              <a:t>중요하고</a:t>
            </a:r>
            <a:r>
              <a:rPr sz="1019" dirty="0">
                <a:solidFill>
                  <a:srgbClr val="6B7C93"/>
                </a:solidFill>
              </a:rPr>
              <a:t>, </a:t>
            </a:r>
            <a:r>
              <a:rPr sz="1019" b="1" dirty="0" err="1">
                <a:solidFill>
                  <a:srgbClr val="2CA58D"/>
                </a:solidFill>
              </a:rPr>
              <a:t>Subbe</a:t>
            </a:r>
            <a:r>
              <a:rPr sz="1019" b="1" dirty="0">
                <a:solidFill>
                  <a:srgbClr val="2CA58D"/>
                </a:solidFill>
              </a:rPr>
              <a:t> et al. (2001)</a:t>
            </a:r>
            <a:r>
              <a:rPr sz="1019" dirty="0">
                <a:solidFill>
                  <a:srgbClr val="6B7C93"/>
                </a:solidFill>
              </a:rPr>
              <a:t>의 </a:t>
            </a:r>
            <a:r>
              <a:rPr sz="1019" dirty="0" err="1">
                <a:solidFill>
                  <a:srgbClr val="6B7C93"/>
                </a:solidFill>
              </a:rPr>
              <a:t>MEWS처럼</a:t>
            </a:r>
            <a:endParaRPr lang="en-US" sz="1220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dirty="0" err="1">
                <a:solidFill>
                  <a:srgbClr val="6B7C93"/>
                </a:solidFill>
              </a:rPr>
              <a:t>심박수·호흡수</a:t>
            </a:r>
            <a:r>
              <a:rPr sz="1019" dirty="0">
                <a:solidFill>
                  <a:srgbClr val="6B7C93"/>
                </a:solidFill>
              </a:rPr>
              <a:t> </a:t>
            </a:r>
            <a:r>
              <a:rPr sz="1019" dirty="0" err="1">
                <a:solidFill>
                  <a:srgbClr val="6B7C93"/>
                </a:solidFill>
              </a:rPr>
              <a:t>threshold로</a:t>
            </a:r>
            <a:r>
              <a:rPr sz="1019" dirty="0">
                <a:solidFill>
                  <a:srgbClr val="6B7C93"/>
                </a:solidFill>
              </a:rPr>
              <a:t> </a:t>
            </a:r>
            <a:r>
              <a:rPr sz="1019" dirty="0" err="1">
                <a:solidFill>
                  <a:srgbClr val="6B7C93"/>
                </a:solidFill>
              </a:rPr>
              <a:t>환자</a:t>
            </a:r>
            <a:r>
              <a:rPr sz="1019" dirty="0">
                <a:solidFill>
                  <a:srgbClr val="6B7C93"/>
                </a:solidFill>
              </a:rPr>
              <a:t> </a:t>
            </a:r>
            <a:r>
              <a:rPr sz="1019" dirty="0" err="1">
                <a:solidFill>
                  <a:srgbClr val="6B7C93"/>
                </a:solidFill>
              </a:rPr>
              <a:t>위험을</a:t>
            </a:r>
            <a:r>
              <a:rPr sz="1019" dirty="0">
                <a:solidFill>
                  <a:srgbClr val="6B7C93"/>
                </a:solidFill>
              </a:rPr>
              <a:t> </a:t>
            </a:r>
            <a:r>
              <a:rPr sz="1019" dirty="0" err="1">
                <a:solidFill>
                  <a:srgbClr val="6B7C93"/>
                </a:solidFill>
              </a:rPr>
              <a:t>판단하는</a:t>
            </a:r>
            <a:r>
              <a:rPr sz="1019" dirty="0">
                <a:solidFill>
                  <a:srgbClr val="6B7C93"/>
                </a:solidFill>
              </a:rPr>
              <a:t> </a:t>
            </a:r>
            <a:r>
              <a:rPr sz="1019" dirty="0" err="1">
                <a:solidFill>
                  <a:srgbClr val="6B7C93"/>
                </a:solidFill>
              </a:rPr>
              <a:t>구조와</a:t>
            </a:r>
            <a:r>
              <a:rPr sz="1019" dirty="0">
                <a:solidFill>
                  <a:srgbClr val="6B7C93"/>
                </a:solidFill>
              </a:rPr>
              <a:t> </a:t>
            </a:r>
            <a:r>
              <a:rPr sz="1019" dirty="0" err="1">
                <a:solidFill>
                  <a:srgbClr val="6B7C93"/>
                </a:solidFill>
              </a:rPr>
              <a:t>직접</a:t>
            </a:r>
            <a:r>
              <a:rPr sz="1019" dirty="0">
                <a:solidFill>
                  <a:srgbClr val="6B7C93"/>
                </a:solidFill>
              </a:rPr>
              <a:t> </a:t>
            </a:r>
            <a:r>
              <a:rPr sz="1019" dirty="0" err="1">
                <a:solidFill>
                  <a:srgbClr val="6B7C93"/>
                </a:solidFill>
              </a:rPr>
              <a:t>연결됩니다</a:t>
            </a:r>
            <a:r>
              <a:rPr sz="1019" dirty="0">
                <a:solidFill>
                  <a:srgbClr val="6B7C93"/>
                </a:solidFill>
              </a:rPr>
              <a:t>.</a:t>
            </a:r>
          </a:p>
        </p:txBody>
      </p:sp>
      <p:sp>
        <p:nvSpPr>
          <p:cNvPr id="26" name="Shape 24"/>
          <p:cNvSpPr/>
          <p:nvPr/>
        </p:nvSpPr>
        <p:spPr>
          <a:xfrm>
            <a:off x="5070021" y="1353312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070021" y="1353312"/>
            <a:ext cx="1965960" cy="73152"/>
          </a:xfrm>
          <a:prstGeom prst="rect">
            <a:avLst/>
          </a:prstGeom>
          <a:solidFill>
            <a:srgbClr val="D04E3A"/>
          </a:solidFill>
          <a:ln w="12700">
            <a:solidFill>
              <a:srgbClr val="D04E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198037" y="1481328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 rows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98037" y="1664208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3,193</a:t>
            </a:r>
            <a:endParaRPr lang="en-US" sz="2300" dirty="0"/>
          </a:p>
        </p:txBody>
      </p:sp>
      <p:sp>
        <p:nvSpPr>
          <p:cNvPr id="30" name="Shape 28"/>
          <p:cNvSpPr/>
          <p:nvPr/>
        </p:nvSpPr>
        <p:spPr>
          <a:xfrm>
            <a:off x="7255437" y="1353312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255437" y="1353312"/>
            <a:ext cx="196596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383453" y="1481328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 ratio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83453" y="1664208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17.8%</a:t>
            </a:r>
            <a:endParaRPr lang="en-US" sz="2300" dirty="0"/>
          </a:p>
        </p:txBody>
      </p:sp>
      <p:sp>
        <p:nvSpPr>
          <p:cNvPr id="34" name="Shape 32"/>
          <p:cNvSpPr/>
          <p:nvPr/>
        </p:nvSpPr>
        <p:spPr>
          <a:xfrm>
            <a:off x="9440853" y="1353312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440853" y="1353312"/>
            <a:ext cx="1965960" cy="73152"/>
          </a:xfrm>
          <a:prstGeom prst="rect">
            <a:avLst/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9568869" y="1481328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Drop events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68869" y="1664208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2300" dirty="0"/>
          </a:p>
        </p:txBody>
      </p:sp>
      <p:sp>
        <p:nvSpPr>
          <p:cNvPr id="38" name="Shape 36"/>
          <p:cNvSpPr/>
          <p:nvPr/>
        </p:nvSpPr>
        <p:spPr>
          <a:xfrm>
            <a:off x="5070021" y="2697480"/>
            <a:ext cx="52120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307765" y="29077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 type distribution</a:t>
            </a:r>
            <a:endParaRPr lang="en-US" sz="1500" dirty="0"/>
          </a:p>
        </p:txBody>
      </p:sp>
      <p:graphicFrame>
        <p:nvGraphicFramePr>
          <p:cNvPr id="40" name="Chart 0"/>
          <p:cNvGraphicFramePr/>
          <p:nvPr>
            <p:extLst>
              <p:ext uri="{D42A27DB-BD31-4B8C-83A1-F6EECF244321}">
                <p14:modId xmlns:p14="http://schemas.microsoft.com/office/powerpoint/2010/main" val="1462300788"/>
              </p:ext>
            </p:extLst>
          </p:nvPr>
        </p:nvGraphicFramePr>
        <p:xfrm>
          <a:off x="5271189" y="3182112"/>
          <a:ext cx="47548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Shape 38"/>
          <p:cNvSpPr/>
          <p:nvPr/>
        </p:nvSpPr>
        <p:spPr>
          <a:xfrm>
            <a:off x="10464981" y="2697480"/>
            <a:ext cx="1600200" cy="25603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10620429" y="29077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 mask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10556421" y="349300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661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device_661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10592997" y="4572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식별 정보는 제거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11612880" y="6492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Rounded Rectangle 46"/>
          <p:cNvSpPr/>
          <p:nvPr/>
        </p:nvSpPr>
        <p:spPr>
          <a:xfrm>
            <a:off x="5042589" y="5468112"/>
            <a:ext cx="6720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2CA58D"/>
                </a:solidFill>
              </a:rPr>
              <a:t>Research basis  </a:t>
            </a:r>
            <a:r>
              <a:rPr lang="en-US" sz="1050" b="1" dirty="0" err="1">
                <a:solidFill>
                  <a:srgbClr val="17324D"/>
                </a:solidFill>
              </a:rPr>
              <a:t>Subbe</a:t>
            </a:r>
            <a:r>
              <a:rPr lang="en-US" sz="1050" b="1" dirty="0">
                <a:solidFill>
                  <a:srgbClr val="17324D"/>
                </a:solidFill>
              </a:rPr>
              <a:t> et al. (2001), </a:t>
            </a:r>
            <a:r>
              <a:rPr lang="en-US" sz="1050" i="1" dirty="0">
                <a:solidFill>
                  <a:srgbClr val="17324D"/>
                </a:solidFill>
              </a:rPr>
              <a:t>Validation of a modified Early Warning Score in medical admissions</a:t>
            </a:r>
            <a:r>
              <a:rPr lang="en-US" sz="1050" dirty="0">
                <a:solidFill>
                  <a:srgbClr val="17324D"/>
                </a:solidFill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17324D"/>
                </a:solidFill>
              </a:rPr>
              <a:t>QJM 94(10):521–526 · DOI 10.1093/</a:t>
            </a:r>
            <a:r>
              <a:rPr lang="en-US" sz="1050" dirty="0" err="1">
                <a:solidFill>
                  <a:srgbClr val="17324D"/>
                </a:solidFill>
              </a:rPr>
              <a:t>qjmed</a:t>
            </a:r>
            <a:r>
              <a:rPr lang="en-US" sz="1050" dirty="0">
                <a:solidFill>
                  <a:srgbClr val="17324D"/>
                </a:solidFill>
              </a:rPr>
              <a:t>/94.10.521 · </a:t>
            </a:r>
            <a:r>
              <a:rPr lang="en-US" sz="1050" u="sng" dirty="0">
                <a:solidFill>
                  <a:srgbClr val="3E7CB1"/>
                </a:solidFill>
                <a:hlinkClick r:id="rId4"/>
              </a:rPr>
              <a:t>Oxford Academic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EDA — Time Pattern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72시간 시계열과 낙상 이벤트 구간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흐름에 따라 상태가 변하고, Drop 주변에서 단기 변동이 관찰됨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1298448"/>
            <a:ext cx="77266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384" y="1768735"/>
            <a:ext cx="7269480" cy="328395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54132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72-hour heart / breath timeline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549640" y="1298448"/>
            <a:ext cx="3063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778240" y="1572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What to read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759952" y="1828800"/>
            <a:ext cx="2468880" cy="15918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0208" indent="-140208">
              <a:buSzPct val="100000"/>
              <a:buChar char="•"/>
            </a:pPr>
            <a:r>
              <a:rPr lang="en-US" sz="138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밤 구간에서는 Heart/Breath 평균이 낮아짐</a:t>
            </a:r>
            <a:endParaRPr lang="en-US" sz="1380" dirty="0"/>
          </a:p>
          <a:p>
            <a:pPr marL="140208" indent="-140208">
              <a:buSzPct val="100000"/>
              <a:buChar char="•"/>
            </a:pPr>
            <a:r>
              <a:rPr lang="en-US" sz="138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활동 시간대에는 두 신호가 함께 상승</a:t>
            </a:r>
            <a:endParaRPr lang="en-US" sz="1380" dirty="0"/>
          </a:p>
          <a:p>
            <a:pPr marL="140208" indent="-140208">
              <a:buSzPct val="100000"/>
              <a:buChar char="•"/>
            </a:pPr>
            <a:r>
              <a:rPr lang="en-US" sz="138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세로 점선 위치가 Drop 이벤트</a:t>
            </a:r>
            <a:endParaRPr lang="en-US" sz="1380" dirty="0"/>
          </a:p>
        </p:txBody>
      </p:sp>
      <p:sp>
        <p:nvSpPr>
          <p:cNvPr id="13" name="Shape 10"/>
          <p:cNvSpPr/>
          <p:nvPr/>
        </p:nvSpPr>
        <p:spPr>
          <a:xfrm>
            <a:off x="8549640" y="3611880"/>
            <a:ext cx="3063240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/mnt/data/workdeck/datamining_midterm_project_v2/figures/fig_06_drop_event_win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4" y="4172448"/>
            <a:ext cx="2670048" cy="138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96528" y="60167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Drop event window (±20 min)</a:t>
            </a:r>
            <a:endParaRPr lang="en-US" sz="1030" dirty="0"/>
          </a:p>
        </p:txBody>
      </p:sp>
      <p:sp>
        <p:nvSpPr>
          <p:cNvPr id="17" name="Text 12"/>
          <p:cNvSpPr/>
          <p:nvPr/>
        </p:nvSpPr>
        <p:spPr>
          <a:xfrm>
            <a:off x="11612880" y="6492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EDA — Distribution &amp; Correlation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분포와 상관관계 해석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 Heart 72.14, 평균 Breath 15.15, 상관계수 r = 0.867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1298448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1874520" cy="7315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94944" y="14264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Mean Heart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" y="1609344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72.14 bpm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2633472" y="1298448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633472" y="1298448"/>
            <a:ext cx="187452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61488" y="14264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Mean Breath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61488" y="1609344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15.15 rpm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700016" y="1298448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00016" y="1298448"/>
            <a:ext cx="173736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28032" y="142646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Heart std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160934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11.08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6638544" y="1298448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38544" y="1298448"/>
            <a:ext cx="1737360" cy="73152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66560" y="142646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Correlation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0" y="160934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r=0.867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566928" y="2423160"/>
            <a:ext cx="54864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2153" y="2670048"/>
            <a:ext cx="5055950" cy="20116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309360" y="242316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40052" y="2578608"/>
            <a:ext cx="2642134" cy="219456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66928" y="5047488"/>
            <a:ext cx="1104595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804672" y="52486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 포인트</a:t>
            </a:r>
            <a:endParaRPr lang="en-US" sz="1450" dirty="0"/>
          </a:p>
        </p:txBody>
      </p:sp>
      <p:sp>
        <p:nvSpPr>
          <p:cNvPr id="29" name="Text 25"/>
          <p:cNvSpPr/>
          <p:nvPr/>
        </p:nvSpPr>
        <p:spPr>
          <a:xfrm>
            <a:off x="1965960" y="5175504"/>
            <a:ext cx="9326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4112" indent="-134112">
              <a:buSzPct val="100000"/>
              <a:buChar char="•"/>
            </a:pPr>
            <a:r>
              <a:rPr lang="en-US" sz="132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후에도 대부분 데이터가 정상 범위 안에서 분포하므로, 전처리 규칙이 과도하지 않음</a:t>
            </a:r>
            <a:endParaRPr lang="en-US" sz="1320" dirty="0"/>
          </a:p>
          <a:p>
            <a:pPr marL="134112" indent="-134112">
              <a:buSzPct val="100000"/>
              <a:buChar char="•"/>
            </a:pPr>
            <a:r>
              <a:rPr lang="en-US" sz="132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Heart와 Breath가 함께 증가하는 패턴이 뚜렷해, 상태 변화 설명에 두 신호를 함께 활용할 수 있음</a:t>
            </a:r>
            <a:endParaRPr lang="en-US" sz="1320" dirty="0"/>
          </a:p>
          <a:p>
            <a:pPr marL="134112" indent="-134112">
              <a:buSzPct val="100000"/>
              <a:buChar char="•"/>
            </a:pPr>
            <a:r>
              <a:rPr lang="en-US" sz="132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상관계수 0.867은 강한 양의 상관관계를 의미하며, 활동/긴장 상태를 동시에 반영할 가능성이 큼</a:t>
            </a:r>
            <a:endParaRPr lang="en-US" sz="1320" dirty="0"/>
          </a:p>
        </p:txBody>
      </p:sp>
      <p:sp>
        <p:nvSpPr>
          <p:cNvPr id="31" name="Text 26"/>
          <p:cNvSpPr/>
          <p:nvPr/>
        </p:nvSpPr>
        <p:spPr>
          <a:xfrm>
            <a:off x="11612880" y="6492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7. Demo &amp; 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Streamlit 시연 흐름과 EC2 배포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 분석 코드를 그대로 EC2에서 실행해 웹 대시보드로 확장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2592324" cy="1417320"/>
          </a:xfrm>
          <a:prstGeom prst="roundRect">
            <a:avLst>
              <a:gd name="adj" fmla="val 5161"/>
            </a:avLst>
          </a:prstGeom>
          <a:solidFill>
            <a:srgbClr val="EAF2FA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68096" y="1581912"/>
            <a:ext cx="2372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1819656"/>
            <a:ext cx="2372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 / DB log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8096" y="2514600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long-format raw data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3278124" y="2007108"/>
            <a:ext cx="146304" cy="237744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451860" y="1417320"/>
            <a:ext cx="2592324" cy="1417320"/>
          </a:xfrm>
          <a:prstGeom prst="roundRect">
            <a:avLst>
              <a:gd name="adj" fmla="val 5161"/>
            </a:avLst>
          </a:prstGeom>
          <a:solidFill>
            <a:srgbClr val="E8F7F3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561588" y="1581912"/>
            <a:ext cx="2372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1588" y="1819656"/>
            <a:ext cx="2372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analyze_biosignal.py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561588" y="2514600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preprocess · risk rules · figures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071616" y="2007108"/>
            <a:ext cx="146304" cy="237744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45352" y="1417320"/>
            <a:ext cx="2592324" cy="1417320"/>
          </a:xfrm>
          <a:prstGeom prst="roundRect">
            <a:avLst>
              <a:gd name="adj" fmla="val 5161"/>
            </a:avLst>
          </a:prstGeom>
          <a:solidFill>
            <a:srgbClr val="FFF2E9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55080" y="1581912"/>
            <a:ext cx="2372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55080" y="1819656"/>
            <a:ext cx="2372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Streamlit dashboard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355080" y="2514600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filter · timeline · scatter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865108" y="2007108"/>
            <a:ext cx="146304" cy="237744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038844" y="1417320"/>
            <a:ext cx="2592324" cy="1417320"/>
          </a:xfrm>
          <a:prstGeom prst="roundRect">
            <a:avLst>
              <a:gd name="adj" fmla="val 5161"/>
            </a:avLst>
          </a:prstGeom>
          <a:solidFill>
            <a:srgbClr val="EEF2F6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148572" y="1581912"/>
            <a:ext cx="2372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Deploy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8572" y="1819656"/>
            <a:ext cx="2372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EC2 instance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148572" y="2514600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server.address 0.0.0.0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566928" y="3246120"/>
            <a:ext cx="54406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22960" y="34930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Demo checklist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3749040"/>
            <a:ext cx="4754880" cy="211309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4272" indent="-144272">
              <a:buSzPct val="100000"/>
              <a:buChar char="•"/>
            </a:pPr>
            <a:r>
              <a:rPr lang="en-US" sz="142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Summary metrics 확인</a:t>
            </a:r>
            <a:endParaRPr lang="en-US" sz="1420" dirty="0"/>
          </a:p>
          <a:p>
            <a:pPr marL="144272" indent="-144272">
              <a:buSzPct val="100000"/>
              <a:buChar char="•"/>
            </a:pPr>
            <a:r>
              <a:rPr lang="en-US" sz="142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 range slider로 특정 구간 선택</a:t>
            </a:r>
            <a:endParaRPr lang="en-US" sz="1420" dirty="0"/>
          </a:p>
          <a:p>
            <a:pPr marL="144272" indent="-144272">
              <a:buSzPct val="100000"/>
              <a:buChar char="•"/>
            </a:pPr>
            <a:r>
              <a:rPr lang="en-US" sz="142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“Show Risk Rows Only” 체크로 위험 상태만 필터링</a:t>
            </a:r>
            <a:endParaRPr lang="en-US" sz="1420" dirty="0"/>
          </a:p>
          <a:p>
            <a:pPr marL="144272" indent="-144272">
              <a:buSzPct val="100000"/>
              <a:buChar char="•"/>
            </a:pPr>
            <a:r>
              <a:rPr lang="en-US" sz="142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Timeline / Correlation / Hourly pattern 순서로 설명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6291072" y="3246120"/>
            <a:ext cx="532180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537960" y="3410711"/>
            <a:ext cx="4480560" cy="26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AWS EC2 deployment result</a:t>
            </a:r>
          </a:p>
        </p:txBody>
      </p:sp>
      <p:sp>
        <p:nvSpPr>
          <p:cNvPr id="31" name="Text 29"/>
          <p:cNvSpPr/>
          <p:nvPr/>
        </p:nvSpPr>
        <p:spPr>
          <a:xfrm>
            <a:off x="6547104" y="3868743"/>
            <a:ext cx="4663440" cy="161682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4272" indent="-144272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sz="1050" dirty="0" err="1">
                <a:solidFill>
                  <a:srgbClr val="17324D"/>
                </a:solidFill>
              </a:rPr>
              <a:t>SCP로</a:t>
            </a:r>
            <a:r>
              <a:rPr sz="1050" dirty="0">
                <a:solidFill>
                  <a:srgbClr val="17324D"/>
                </a:solidFill>
              </a:rPr>
              <a:t> </a:t>
            </a:r>
            <a:r>
              <a:rPr sz="1050" dirty="0" err="1">
                <a:solidFill>
                  <a:srgbClr val="17324D"/>
                </a:solidFill>
              </a:rPr>
              <a:t>프로젝트</a:t>
            </a:r>
            <a:r>
              <a:rPr sz="1050" dirty="0">
                <a:solidFill>
                  <a:srgbClr val="17324D"/>
                </a:solidFill>
              </a:rPr>
              <a:t> ZIP </a:t>
            </a:r>
            <a:r>
              <a:rPr sz="1050" dirty="0" err="1">
                <a:solidFill>
                  <a:srgbClr val="17324D"/>
                </a:solidFill>
              </a:rPr>
              <a:t>업로드</a:t>
            </a:r>
            <a:r>
              <a:rPr sz="1050" dirty="0">
                <a:solidFill>
                  <a:srgbClr val="17324D"/>
                </a:solidFill>
              </a:rPr>
              <a:t> 후 EC2에서 </a:t>
            </a:r>
            <a:r>
              <a:rPr sz="1050" dirty="0" err="1">
                <a:solidFill>
                  <a:srgbClr val="17324D"/>
                </a:solidFill>
              </a:rPr>
              <a:t>실행</a:t>
            </a:r>
            <a:endParaRPr lang="en-US" sz="1420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dirty="0" err="1">
                <a:solidFill>
                  <a:srgbClr val="17324D"/>
                </a:solidFill>
              </a:rPr>
              <a:t>venv</a:t>
            </a:r>
            <a:r>
              <a:rPr sz="1050" dirty="0">
                <a:solidFill>
                  <a:srgbClr val="17324D"/>
                </a:solidFill>
              </a:rPr>
              <a:t> </a:t>
            </a:r>
            <a:r>
              <a:rPr sz="1050" dirty="0" err="1">
                <a:solidFill>
                  <a:srgbClr val="17324D"/>
                </a:solidFill>
              </a:rPr>
              <a:t>환경에서</a:t>
            </a:r>
            <a:r>
              <a:rPr sz="1050" dirty="0">
                <a:solidFill>
                  <a:srgbClr val="17324D"/>
                </a:solidFill>
              </a:rPr>
              <a:t> analyze_biosignal.py 및 </a:t>
            </a:r>
            <a:r>
              <a:rPr sz="1050" dirty="0" err="1">
                <a:solidFill>
                  <a:srgbClr val="17324D"/>
                </a:solidFill>
              </a:rPr>
              <a:t>Streamlit</a:t>
            </a:r>
            <a:r>
              <a:rPr sz="1050" dirty="0">
                <a:solidFill>
                  <a:srgbClr val="17324D"/>
                </a:solidFill>
              </a:rPr>
              <a:t> </a:t>
            </a:r>
            <a:r>
              <a:rPr sz="1050" dirty="0" err="1">
                <a:solidFill>
                  <a:srgbClr val="17324D"/>
                </a:solidFill>
              </a:rPr>
              <a:t>구동</a:t>
            </a:r>
            <a:endParaRPr sz="1050" dirty="0">
              <a:solidFill>
                <a:srgbClr val="17324D"/>
              </a:solidFill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dirty="0" err="1">
                <a:solidFill>
                  <a:srgbClr val="17324D"/>
                </a:solidFill>
              </a:rPr>
              <a:t>보안그룹</a:t>
            </a:r>
            <a:r>
              <a:rPr sz="1050" dirty="0">
                <a:solidFill>
                  <a:srgbClr val="17324D"/>
                </a:solidFill>
              </a:rPr>
              <a:t> 8501 </a:t>
            </a:r>
            <a:r>
              <a:rPr sz="1050" dirty="0" err="1">
                <a:solidFill>
                  <a:srgbClr val="17324D"/>
                </a:solidFill>
              </a:rPr>
              <a:t>포트</a:t>
            </a:r>
            <a:r>
              <a:rPr sz="1050" dirty="0">
                <a:solidFill>
                  <a:srgbClr val="17324D"/>
                </a:solidFill>
              </a:rPr>
              <a:t> </a:t>
            </a:r>
            <a:r>
              <a:rPr sz="1050" dirty="0" err="1">
                <a:solidFill>
                  <a:srgbClr val="17324D"/>
                </a:solidFill>
              </a:rPr>
              <a:t>개방</a:t>
            </a:r>
            <a:r>
              <a:rPr sz="1050" dirty="0">
                <a:solidFill>
                  <a:srgbClr val="17324D"/>
                </a:solidFill>
              </a:rPr>
              <a:t> 후 </a:t>
            </a:r>
            <a:r>
              <a:rPr sz="1050" dirty="0" err="1">
                <a:solidFill>
                  <a:srgbClr val="17324D"/>
                </a:solidFill>
              </a:rPr>
              <a:t>브라우저</a:t>
            </a:r>
            <a:r>
              <a:rPr sz="1050" dirty="0">
                <a:solidFill>
                  <a:srgbClr val="17324D"/>
                </a:solidFill>
              </a:rPr>
              <a:t> </a:t>
            </a:r>
            <a:r>
              <a:rPr sz="1050" dirty="0" err="1">
                <a:solidFill>
                  <a:srgbClr val="17324D"/>
                </a:solidFill>
              </a:rPr>
              <a:t>접속까지</a:t>
            </a:r>
            <a:r>
              <a:rPr sz="1050" dirty="0">
                <a:solidFill>
                  <a:srgbClr val="17324D"/>
                </a:solidFill>
              </a:rPr>
              <a:t> </a:t>
            </a:r>
            <a:r>
              <a:rPr sz="1050" dirty="0" err="1">
                <a:solidFill>
                  <a:srgbClr val="17324D"/>
                </a:solidFill>
              </a:rPr>
              <a:t>확인</a:t>
            </a:r>
            <a:endParaRPr sz="1050" dirty="0">
              <a:solidFill>
                <a:srgbClr val="17324D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98280" y="55321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80" b="1" dirty="0">
                <a:solidFill>
                  <a:srgbClr val="D04E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EC2 deployment completed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11612880" y="6492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900" dirty="0"/>
          </a:p>
        </p:txBody>
      </p:sp>
      <p:sp>
        <p:nvSpPr>
          <p:cNvPr id="35" name="TextBox 34"/>
          <p:cNvSpPr txBox="1"/>
          <p:nvPr/>
        </p:nvSpPr>
        <p:spPr>
          <a:xfrm>
            <a:off x="8869680" y="5742432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6B7C93"/>
                </a:solidFill>
              </a:rPr>
              <a:t>public IP + port 8501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8.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1261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결론과 다음 단계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7837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Threshold 정의, 해석 가능한 이상탐지, 대시보드 시연까지 연결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2517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3396119" cy="120700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3396119" cy="7315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94944" y="145389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Takeaway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" y="1636776"/>
            <a:ext cx="33018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전처리 후 17,960행 확보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94944" y="2130552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80,600 → final 17,960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445715" y="1325880"/>
            <a:ext cx="3396119" cy="120700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445715" y="1325880"/>
            <a:ext cx="3396119" cy="73152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479450" y="145389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Takeaway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79450" y="1636776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Heart–Breath r = 0.867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479450" y="2130552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strong positive correlation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233062" y="1325880"/>
            <a:ext cx="3396119" cy="120700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233062" y="1325880"/>
            <a:ext cx="3396119" cy="68561"/>
          </a:xfrm>
          <a:prstGeom prst="rect">
            <a:avLst/>
          </a:prstGeom>
          <a:solidFill>
            <a:srgbClr val="D04E3A"/>
          </a:solidFill>
          <a:ln w="12700">
            <a:solidFill>
              <a:srgbClr val="D04E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95132" y="145389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Takeaway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95132" y="163677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 rows 3,193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295132" y="2130552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17.8% of final rows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58368" y="274320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96112" y="2999231"/>
            <a:ext cx="3472688" cy="25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전달하고 싶은 핵심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6112" y="3273552"/>
            <a:ext cx="3888324" cy="16355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7320" indent="-147320"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부재/결측/이상치를 먼저 제거해야 의미 있는 생체신호 분석이 가능함</a:t>
            </a:r>
            <a:endParaRPr lang="en-US" sz="1600" dirty="0"/>
          </a:p>
          <a:p>
            <a:pPr marL="147320" indent="-147320"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의료 데이터는 해석 가능성이 </a:t>
            </a:r>
            <a:r>
              <a:rPr lang="en-US" sz="1600" dirty="0" err="1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중요하므로</a:t>
            </a:r>
            <a:r>
              <a:rPr lang="en-US" sz="160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br>
              <a:rPr lang="en-US" sz="160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</a:br>
            <a:r>
              <a:rPr lang="en-US" sz="160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rule-based detection이 첫 단계로 적합함</a:t>
            </a:r>
            <a:endParaRPr lang="en-US" sz="1600" dirty="0"/>
          </a:p>
          <a:p>
            <a:pPr marL="147320" indent="-147320">
              <a:buSzPct val="100000"/>
              <a:buChar char="•"/>
            </a:pPr>
            <a:r>
              <a:rPr lang="en-US" sz="160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결과를 Streamlit으로 </a:t>
            </a:r>
            <a:r>
              <a:rPr lang="en-US" sz="1600" dirty="0" err="1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연결하면</a:t>
            </a:r>
            <a:r>
              <a:rPr lang="en-US" sz="160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br>
              <a:rPr lang="en-US" sz="160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</a:br>
            <a:r>
              <a:rPr lang="en-US" sz="1600" dirty="0" err="1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</a:t>
            </a:r>
            <a:r>
              <a:rPr lang="en-US" sz="160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데모까지 빠르게 확장할 수 있음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91072" y="274320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528816" y="2999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A5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28816" y="3273552"/>
            <a:ext cx="4572000" cy="21380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7320" indent="-147320">
              <a:buSzPct val="100000"/>
              <a:buChar char="•"/>
            </a:pPr>
            <a:r>
              <a:rPr lang="en-US" sz="14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실측 비영(非0) 구간으로 동일 파이프라인 재검증</a:t>
            </a:r>
            <a:endParaRPr lang="en-US" sz="1450" dirty="0"/>
          </a:p>
          <a:p>
            <a:pPr marL="147320" indent="-147320">
              <a:buSzPct val="100000"/>
              <a:buChar char="•"/>
            </a:pPr>
            <a:r>
              <a:rPr lang="en-US" sz="14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Rule-based 이후 Isolation Forest / One-Class SVM 비교</a:t>
            </a:r>
            <a:endParaRPr lang="en-US" sz="1450" dirty="0"/>
          </a:p>
          <a:p>
            <a:pPr marL="147320" indent="-147320">
              <a:buSzPct val="100000"/>
              <a:buChar char="•"/>
            </a:pPr>
            <a:r>
              <a:rPr lang="en-US" sz="14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Drop 전조 패턴 기반 feature engineering 고도화</a:t>
            </a:r>
            <a:endParaRPr lang="en-US" sz="1450" dirty="0"/>
          </a:p>
          <a:p>
            <a:pPr marL="147320" indent="-147320">
              <a:buSzPct val="100000"/>
              <a:buChar char="•"/>
            </a:pPr>
            <a:r>
              <a:rPr lang="en-US" sz="1450" dirty="0">
                <a:solidFill>
                  <a:srgbClr val="1732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EC2 + 도메인 + HTTPS까지 연결한 배포형 데모 완성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4944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3A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감사합니다. Q&amp;A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1612880" y="6492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1204</Words>
  <Application>Microsoft Office PowerPoint</Application>
  <PresentationFormat>와이드스크린</PresentationFormat>
  <Paragraphs>258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CJK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민구 김</dc:creator>
  <cp:lastModifiedBy>민구 김</cp:lastModifiedBy>
  <cp:revision>2</cp:revision>
  <dcterms:created xsi:type="dcterms:W3CDTF">2026-04-22T00:42:19Z</dcterms:created>
  <dcterms:modified xsi:type="dcterms:W3CDTF">2026-04-22T00:56:06Z</dcterms:modified>
</cp:coreProperties>
</file>